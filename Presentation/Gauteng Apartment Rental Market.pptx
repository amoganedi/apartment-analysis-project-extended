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4"/>
  </p:notesMasterIdLst>
  <p:sldIdLst>
    <p:sldId id="266" r:id="rId5"/>
    <p:sldId id="260" r:id="rId6"/>
    <p:sldId id="261" r:id="rId7"/>
    <p:sldId id="277" r:id="rId8"/>
    <p:sldId id="278" r:id="rId9"/>
    <p:sldId id="279" r:id="rId10"/>
    <p:sldId id="280" r:id="rId11"/>
    <p:sldId id="282" r:id="rId12"/>
    <p:sldId id="27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16DA210-FB5B-4158-B5E0-FEB733F419B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3" autoAdjust="0"/>
    <p:restoredTop sz="94609" autoAdjust="0"/>
  </p:normalViewPr>
  <p:slideViewPr>
    <p:cSldViewPr snapToGrid="0">
      <p:cViewPr varScale="1">
        <p:scale>
          <a:sx n="64" d="100"/>
          <a:sy n="64" d="100"/>
        </p:scale>
        <p:origin x="978" y="7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D81C89-AC0D-4BFF-9223-D3157C1DDC5B}" type="datetimeFigureOut">
              <a:rPr lang="en-US" smtClean="0"/>
              <a:t>5/16/2026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33D7A2-C585-48BF-BF8C-C21FDC051F77}" type="slidenum">
              <a:rPr lang="en-US" smtClean="0"/>
              <a:t>‹#›</a:t>
            </a:fld>
            <a:endParaRPr lang="en-US" dirty="0"/>
          </a:p>
        </p:txBody>
      </p:sp>
    </p:spTree>
    <p:extLst>
      <p:ext uri="{BB962C8B-B14F-4D97-AF65-F5344CB8AC3E}">
        <p14:creationId xmlns:p14="http://schemas.microsoft.com/office/powerpoint/2010/main" val="1372662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54480" y="1554480"/>
            <a:ext cx="9052560" cy="2377440"/>
          </a:xfrm>
        </p:spPr>
        <p:txBody>
          <a:bodyPr anchor="t">
            <a:noAutofit/>
          </a:bodyPr>
          <a:lstStyle>
            <a:lvl1pPr algn="l">
              <a:defRPr sz="5400" b="1"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1554480" y="4242816"/>
            <a:ext cx="9052560" cy="1188720"/>
          </a:xfrm>
        </p:spPr>
        <p:txBody>
          <a:bodyPr anchor="b">
            <a:normAutofit/>
          </a:bodyPr>
          <a:lstStyle>
            <a:lvl1pPr marL="0" indent="0" algn="r">
              <a:lnSpc>
                <a:spcPct val="112000"/>
              </a:lnSpc>
              <a:spcBef>
                <a:spcPts val="0"/>
              </a:spcBef>
              <a:spcAft>
                <a:spcPts val="0"/>
              </a:spcAft>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7" name="Group 6"/>
          <p:cNvGrpSpPr/>
          <p:nvPr/>
        </p:nvGrpSpPr>
        <p:grpSpPr>
          <a:xfrm>
            <a:off x="752858" y="744469"/>
            <a:ext cx="10674117" cy="5349671"/>
            <a:chOff x="752858" y="744469"/>
            <a:chExt cx="10674117" cy="5349671"/>
          </a:xfrm>
          <a:solidFill>
            <a:schemeClr val="tx1"/>
          </a:solidFill>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grpFill/>
            <a:ln w="0">
              <a:noFill/>
              <a:prstDash val="solid"/>
              <a:round/>
              <a:headEnd/>
              <a:tailEnd/>
            </a:ln>
          </p:spPr>
          <p:txBody>
            <a:bodyPr/>
            <a:lstStyle/>
            <a:p>
              <a:endParaRPr lang="en-ZA"/>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grpFill/>
            <a:ln w="0">
              <a:noFill/>
              <a:prstDash val="solid"/>
              <a:round/>
              <a:headEnd/>
              <a:tailEnd/>
            </a:ln>
          </p:spPr>
          <p:txBody>
            <a:bodyPr/>
            <a:lstStyle/>
            <a:p>
              <a:endParaRPr lang="en-ZA"/>
            </a:p>
          </p:txBody>
        </p:sp>
      </p:grpSp>
    </p:spTree>
    <p:extLst>
      <p:ext uri="{BB962C8B-B14F-4D97-AF65-F5344CB8AC3E}">
        <p14:creationId xmlns:p14="http://schemas.microsoft.com/office/powerpoint/2010/main" val="92397628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4297680" cy="5760720"/>
          </a:xfrm>
        </p:spPr>
        <p:txBody>
          <a:bodyPr>
            <a:normAutofit/>
          </a:bodyPr>
          <a:lstStyle>
            <a:lvl1pPr>
              <a:defRPr sz="3600" b="1" spc="100" baseline="0"/>
            </a:lvl1pPr>
          </a:lstStyle>
          <a:p>
            <a:r>
              <a:rPr lang="en-US"/>
              <a:t>Click to edit Master title style</a:t>
            </a:r>
            <a:endParaRPr lang="en-US" dirty="0"/>
          </a:p>
        </p:txBody>
      </p:sp>
      <p:sp>
        <p:nvSpPr>
          <p:cNvPr id="3" name="Content Placeholder 2"/>
          <p:cNvSpPr>
            <a:spLocks noGrp="1"/>
          </p:cNvSpPr>
          <p:nvPr>
            <p:ph idx="1"/>
          </p:nvPr>
        </p:nvSpPr>
        <p:spPr>
          <a:xfrm>
            <a:off x="6309360" y="685800"/>
            <a:ext cx="5212080" cy="5760720"/>
          </a:xfrm>
        </p:spPr>
        <p:txBody>
          <a:bodyPr/>
          <a:lstStyle>
            <a:lvl1pPr>
              <a:buSzPct val="70000"/>
              <a:defRPr/>
            </a:lvl1pPr>
            <a:lvl3pPr>
              <a:buSzPct val="70000"/>
              <a:defRPr/>
            </a:lvl3pPr>
            <a:lvl5pPr>
              <a:buSzPct val="7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B41ED8-AC2E-4560-8CC9-E6292DDF25B6}" type="datetime1">
              <a:rPr lang="en-US" smtClean="0"/>
              <a:t>5/16/2026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1500253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Section header 01">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54480" y="2871216"/>
            <a:ext cx="9052560" cy="2523744"/>
          </a:xfrm>
        </p:spPr>
        <p:txBody>
          <a:bodyPr anchor="b">
            <a:noAutofit/>
          </a:bodyPr>
          <a:lstStyle>
            <a:lvl1pPr algn="r">
              <a:defRPr sz="54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1554480" y="1554480"/>
            <a:ext cx="9052560" cy="1097280"/>
          </a:xfrm>
        </p:spPr>
        <p:txBody>
          <a:bodyPr>
            <a:normAutofit/>
          </a:bodyPr>
          <a:lstStyle>
            <a:lvl1pPr marL="0" indent="0" algn="l">
              <a:lnSpc>
                <a:spcPct val="112000"/>
              </a:lnSpc>
              <a:spcBef>
                <a:spcPts val="0"/>
              </a:spcBef>
              <a:spcAft>
                <a:spcPts val="0"/>
              </a:spcAft>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7" name="Group 6"/>
          <p:cNvGrpSpPr/>
          <p:nvPr/>
        </p:nvGrpSpPr>
        <p:grpSpPr>
          <a:xfrm>
            <a:off x="752858" y="744469"/>
            <a:ext cx="10674117" cy="5349671"/>
            <a:chOff x="752858" y="744469"/>
            <a:chExt cx="10674117" cy="5349671"/>
          </a:xfrm>
          <a:solidFill>
            <a:schemeClr val="tx1"/>
          </a:solidFill>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grpFill/>
            <a:ln w="0">
              <a:noFill/>
              <a:prstDash val="solid"/>
              <a:round/>
              <a:headEnd/>
              <a:tailEnd/>
            </a:ln>
          </p:spPr>
          <p:txBody>
            <a:bodyPr/>
            <a:lstStyle/>
            <a:p>
              <a:endParaRPr lang="en-ZA"/>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grpFill/>
            <a:ln w="0">
              <a:noFill/>
              <a:prstDash val="solid"/>
              <a:round/>
              <a:headEnd/>
              <a:tailEnd/>
            </a:ln>
          </p:spPr>
          <p:txBody>
            <a:bodyPr/>
            <a:lstStyle/>
            <a:p>
              <a:endParaRPr lang="en-ZA"/>
            </a:p>
          </p:txBody>
        </p:sp>
      </p:grpSp>
    </p:spTree>
    <p:extLst>
      <p:ext uri="{BB962C8B-B14F-4D97-AF65-F5344CB8AC3E}">
        <p14:creationId xmlns:p14="http://schemas.microsoft.com/office/powerpoint/2010/main" val="375890689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0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1520" y="731520"/>
            <a:ext cx="5261776" cy="3200400"/>
          </a:xfrm>
        </p:spPr>
        <p:txBody>
          <a:bodyPr anchor="b">
            <a:normAutofit/>
          </a:bodyPr>
          <a:lstStyle>
            <a:lvl1pPr algn="l">
              <a:defRPr sz="54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731519" y="3956278"/>
            <a:ext cx="5261775" cy="2167128"/>
          </a:xfrm>
        </p:spPr>
        <p:txBody>
          <a:bodyPr>
            <a:normAutofit/>
          </a:bodyPr>
          <a:lstStyle>
            <a:lvl1pPr marL="0" indent="0" algn="l">
              <a:lnSpc>
                <a:spcPct val="112000"/>
              </a:lnSpc>
              <a:spcBef>
                <a:spcPts val="0"/>
              </a:spcBef>
              <a:spcAft>
                <a:spcPts val="0"/>
              </a:spcAft>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Picture Placeholder 7">
            <a:extLst>
              <a:ext uri="{FF2B5EF4-FFF2-40B4-BE49-F238E27FC236}">
                <a16:creationId xmlns:a16="http://schemas.microsoft.com/office/drawing/2014/main" id="{65ED42FA-5CCA-F252-5E46-7B0091BCC814}"/>
              </a:ext>
            </a:extLst>
          </p:cNvPr>
          <p:cNvSpPr>
            <a:spLocks noGrp="1"/>
          </p:cNvSpPr>
          <p:nvPr>
            <p:ph type="pic" sz="quarter" idx="10"/>
          </p:nvPr>
        </p:nvSpPr>
        <p:spPr>
          <a:xfrm>
            <a:off x="6089904" y="768096"/>
            <a:ext cx="4480560" cy="4498848"/>
          </a:xfrm>
        </p:spPr>
        <p:txBody>
          <a:bodyPr/>
          <a:lstStyle>
            <a:lvl1pPr marL="0" indent="0">
              <a:buNone/>
              <a:defRPr/>
            </a:lvl1pPr>
          </a:lstStyle>
          <a:p>
            <a:r>
              <a:rPr lang="en-US"/>
              <a:t>Click icon to add picture</a:t>
            </a:r>
            <a:endParaRPr lang="en-US" dirty="0"/>
          </a:p>
        </p:txBody>
      </p:sp>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1"/>
          </a:solidFill>
          <a:ln w="0">
            <a:noFill/>
            <a:prstDash val="solid"/>
            <a:round/>
            <a:headEnd/>
            <a:tailEnd/>
          </a:ln>
        </p:spPr>
        <p:txBody>
          <a:bodyPr/>
          <a:lstStyle/>
          <a:p>
            <a:endParaRPr lang="en-ZA"/>
          </a:p>
        </p:txBody>
      </p:sp>
    </p:spTree>
    <p:extLst>
      <p:ext uri="{BB962C8B-B14F-4D97-AF65-F5344CB8AC3E}">
        <p14:creationId xmlns:p14="http://schemas.microsoft.com/office/powerpoint/2010/main" val="3315151176"/>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wo content 01">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4663440" cy="2377440"/>
          </a:xfrm>
        </p:spPr>
        <p:txBody>
          <a:bodyPr>
            <a:normAutofit/>
          </a:bodyPr>
          <a:lstStyle>
            <a:lvl1pPr>
              <a:defRPr sz="3600" b="1" spc="100" baseline="0"/>
            </a:lvl1pPr>
          </a:lstStyle>
          <a:p>
            <a:r>
              <a:rPr lang="en-US"/>
              <a:t>Click to edit Master title style</a:t>
            </a:r>
            <a:endParaRPr lang="en-US" dirty="0"/>
          </a:p>
        </p:txBody>
      </p:sp>
      <p:sp>
        <p:nvSpPr>
          <p:cNvPr id="3" name="Content Placeholder 2"/>
          <p:cNvSpPr>
            <a:spLocks noGrp="1"/>
          </p:cNvSpPr>
          <p:nvPr>
            <p:ph idx="1"/>
          </p:nvPr>
        </p:nvSpPr>
        <p:spPr>
          <a:xfrm>
            <a:off x="6309360" y="685800"/>
            <a:ext cx="5212080" cy="2377440"/>
          </a:xfrm>
        </p:spPr>
        <p:txBody>
          <a:bodyPr/>
          <a:lstStyle>
            <a:lvl1pPr>
              <a:buSzPct val="70000"/>
              <a:defRPr/>
            </a:lvl1pPr>
            <a:lvl3pPr>
              <a:buSzPct val="70000"/>
              <a:defRPr/>
            </a:lvl3pPr>
            <a:lvl5pPr>
              <a:buSzPct val="7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a:extLst>
              <a:ext uri="{FF2B5EF4-FFF2-40B4-BE49-F238E27FC236}">
                <a16:creationId xmlns:a16="http://schemas.microsoft.com/office/drawing/2014/main" id="{B895DBE8-6B89-8EA5-868B-87356D3FAF85}"/>
              </a:ext>
            </a:extLst>
          </p:cNvPr>
          <p:cNvSpPr>
            <a:spLocks noGrp="1"/>
          </p:cNvSpPr>
          <p:nvPr>
            <p:ph idx="13"/>
          </p:nvPr>
        </p:nvSpPr>
        <p:spPr>
          <a:xfrm>
            <a:off x="1371600" y="3209544"/>
            <a:ext cx="10204704" cy="3227832"/>
          </a:xfrm>
        </p:spPr>
        <p:txBody>
          <a:bodyPr/>
          <a:lstStyle>
            <a:lvl1pPr>
              <a:buSzPct val="70000"/>
              <a:defRPr/>
            </a:lvl1pPr>
            <a:lvl3pPr>
              <a:buSzPct val="70000"/>
              <a:defRPr/>
            </a:lvl3pPr>
            <a:lvl5pPr>
              <a:buSzPct val="7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B41ED8-AC2E-4560-8CC9-E6292DDF25B6}" type="datetime1">
              <a:rPr lang="en-US" smtClean="0"/>
              <a:t>5/16/2026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2536730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9360" y="685800"/>
            <a:ext cx="5212080" cy="2103120"/>
          </a:xfrm>
        </p:spPr>
        <p:txBody>
          <a:bodyPr anchor="b">
            <a:normAutofit/>
          </a:bodyPr>
          <a:lstStyle>
            <a:lvl1pPr>
              <a:defRPr sz="3600" b="1" spc="100" baseline="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06D8770C-634E-CA21-85DC-41D4395BF528}"/>
              </a:ext>
            </a:extLst>
          </p:cNvPr>
          <p:cNvSpPr>
            <a:spLocks noGrp="1"/>
          </p:cNvSpPr>
          <p:nvPr>
            <p:ph type="pic" sz="quarter" idx="13"/>
          </p:nvPr>
        </p:nvSpPr>
        <p:spPr>
          <a:xfrm>
            <a:off x="1371600" y="768096"/>
            <a:ext cx="3776472" cy="5340096"/>
          </a:xfrm>
        </p:spPr>
        <p:txBody>
          <a:bodyPr/>
          <a:lstStyle>
            <a:lvl1pPr marL="0" indent="0">
              <a:buNone/>
              <a:defRPr/>
            </a:lvl1pPr>
          </a:lstStyle>
          <a:p>
            <a:r>
              <a:rPr lang="en-US"/>
              <a:t>Click icon to add picture</a:t>
            </a:r>
            <a:endParaRPr lang="en-US" dirty="0"/>
          </a:p>
        </p:txBody>
      </p:sp>
      <p:sp>
        <p:nvSpPr>
          <p:cNvPr id="3" name="Content Placeholder 2"/>
          <p:cNvSpPr>
            <a:spLocks noGrp="1"/>
          </p:cNvSpPr>
          <p:nvPr>
            <p:ph idx="1"/>
          </p:nvPr>
        </p:nvSpPr>
        <p:spPr>
          <a:xfrm>
            <a:off x="6309360" y="2999232"/>
            <a:ext cx="5212080" cy="3310128"/>
          </a:xfrm>
        </p:spPr>
        <p:txBody>
          <a:bodyPr/>
          <a:lstStyle>
            <a:lvl1pPr>
              <a:buSzPct val="70000"/>
              <a:defRPr/>
            </a:lvl1pPr>
            <a:lvl3pPr>
              <a:buSzPct val="70000"/>
              <a:defRPr/>
            </a:lvl3pPr>
            <a:lvl5pPr>
              <a:buSzPct val="7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B41ED8-AC2E-4560-8CC9-E6292DDF25B6}" type="datetime1">
              <a:rPr lang="en-US" smtClean="0"/>
              <a:t>5/16/2026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2918289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0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4663440" cy="5760720"/>
          </a:xfrm>
        </p:spPr>
        <p:txBody>
          <a:bodyPr>
            <a:normAutofit/>
          </a:bodyPr>
          <a:lstStyle>
            <a:lvl1pPr>
              <a:defRPr sz="3600" b="1" spc="100" baseline="0"/>
            </a:lvl1pPr>
          </a:lstStyle>
          <a:p>
            <a:r>
              <a:rPr lang="en-US"/>
              <a:t>Click to edit Master title style</a:t>
            </a:r>
            <a:endParaRPr lang="en-US" dirty="0"/>
          </a:p>
        </p:txBody>
      </p:sp>
      <p:sp>
        <p:nvSpPr>
          <p:cNvPr id="3" name="Content Placeholder 2"/>
          <p:cNvSpPr>
            <a:spLocks noGrp="1"/>
          </p:cNvSpPr>
          <p:nvPr>
            <p:ph idx="1"/>
          </p:nvPr>
        </p:nvSpPr>
        <p:spPr>
          <a:xfrm>
            <a:off x="6309360" y="685800"/>
            <a:ext cx="5212080" cy="2651760"/>
          </a:xfrm>
        </p:spPr>
        <p:txBody>
          <a:bodyPr/>
          <a:lstStyle>
            <a:lvl1pPr marL="0" indent="0">
              <a:buSzPct val="70000"/>
              <a:buNone/>
              <a:defRPr/>
            </a:lvl1pPr>
            <a:lvl2pPr marL="384048" indent="-384048">
              <a:buSzPct val="70000"/>
              <a:buFont typeface="Franklin Gothic Book" panose="020B0503020102020204" pitchFamily="34" charset="0"/>
              <a:buChar char="■"/>
              <a:defRPr/>
            </a:lvl2pPr>
            <a:lvl3pPr marL="914400" indent="-384048">
              <a:buSzPct val="70000"/>
              <a:buFont typeface="Franklin Gothic Book" panose="020B0503020102020204" pitchFamily="34" charset="0"/>
              <a:buChar char="–"/>
              <a:defRPr/>
            </a:lvl3pPr>
            <a:lvl4pPr marL="1371600" indent="-384048">
              <a:buSzPct val="70000"/>
              <a:buFont typeface="Franklin Gothic Book" panose="020B0503020102020204" pitchFamily="34" charset="0"/>
              <a:buChar char="■"/>
              <a:defRPr/>
            </a:lvl4pPr>
            <a:lvl5pPr marL="1828800" indent="-384048">
              <a:buSzPct val="70000"/>
              <a:buFont typeface="Franklin Gothic Book" panose="020B05030201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a:extLst>
              <a:ext uri="{FF2B5EF4-FFF2-40B4-BE49-F238E27FC236}">
                <a16:creationId xmlns:a16="http://schemas.microsoft.com/office/drawing/2014/main" id="{2CFB8D5A-7E59-4AEA-3F66-398413304E12}"/>
              </a:ext>
            </a:extLst>
          </p:cNvPr>
          <p:cNvSpPr>
            <a:spLocks noGrp="1"/>
          </p:cNvSpPr>
          <p:nvPr>
            <p:ph idx="13"/>
          </p:nvPr>
        </p:nvSpPr>
        <p:spPr>
          <a:xfrm>
            <a:off x="6309360" y="3637722"/>
            <a:ext cx="5212080" cy="2651760"/>
          </a:xfrm>
        </p:spPr>
        <p:txBody>
          <a:bodyPr/>
          <a:lstStyle>
            <a:lvl1pPr marL="0" indent="0">
              <a:buSzPct val="70000"/>
              <a:buNone/>
              <a:defRPr/>
            </a:lvl1pPr>
            <a:lvl2pPr marL="384048" indent="-384048">
              <a:buSzPct val="70000"/>
              <a:buFont typeface="Franklin Gothic Book" panose="020B0503020102020204" pitchFamily="34" charset="0"/>
              <a:buChar char="■"/>
              <a:defRPr/>
            </a:lvl2pPr>
            <a:lvl3pPr marL="914400" indent="-384048">
              <a:buSzPct val="70000"/>
              <a:buFont typeface="Franklin Gothic Book" panose="020B0503020102020204" pitchFamily="34" charset="0"/>
              <a:buChar char="–"/>
              <a:defRPr/>
            </a:lvl3pPr>
            <a:lvl4pPr marL="1371600" indent="-384048">
              <a:buSzPct val="70000"/>
              <a:buFont typeface="Franklin Gothic Book" panose="020B0503020102020204" pitchFamily="34" charset="0"/>
              <a:buChar char="■"/>
              <a:defRPr/>
            </a:lvl4pPr>
            <a:lvl5pPr marL="1828800" indent="-384048">
              <a:buSzPct val="70000"/>
              <a:buFont typeface="Franklin Gothic Book" panose="020B05030201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B41ED8-AC2E-4560-8CC9-E6292DDF25B6}" type="datetime1">
              <a:rPr lang="en-US" smtClean="0"/>
              <a:t>5/16/2026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1140475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0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10149840" cy="1645920"/>
          </a:xfrm>
        </p:spPr>
        <p:txBody>
          <a:bodyPr>
            <a:normAutofit/>
          </a:bodyPr>
          <a:lstStyle>
            <a:lvl1pPr>
              <a:defRPr sz="3600" b="1" spc="100" baseline="0"/>
            </a:lvl1pPr>
          </a:lstStyle>
          <a:p>
            <a:r>
              <a:rPr lang="en-US"/>
              <a:t>Click to edit Master title style</a:t>
            </a:r>
            <a:endParaRPr lang="en-US" dirty="0"/>
          </a:p>
        </p:txBody>
      </p:sp>
      <p:sp>
        <p:nvSpPr>
          <p:cNvPr id="7" name="Content Placeholder 2">
            <a:extLst>
              <a:ext uri="{FF2B5EF4-FFF2-40B4-BE49-F238E27FC236}">
                <a16:creationId xmlns:a16="http://schemas.microsoft.com/office/drawing/2014/main" id="{B895DBE8-6B89-8EA5-868B-87356D3FAF85}"/>
              </a:ext>
            </a:extLst>
          </p:cNvPr>
          <p:cNvSpPr>
            <a:spLocks noGrp="1"/>
          </p:cNvSpPr>
          <p:nvPr>
            <p:ph idx="13"/>
          </p:nvPr>
        </p:nvSpPr>
        <p:spPr>
          <a:xfrm>
            <a:off x="1426464" y="2743200"/>
            <a:ext cx="10149840" cy="3456432"/>
          </a:xfrm>
        </p:spPr>
        <p:txBody>
          <a:bodyPr/>
          <a:lstStyle>
            <a:lvl1pPr>
              <a:buSzPct val="70000"/>
              <a:defRPr/>
            </a:lvl1pPr>
            <a:lvl3pPr>
              <a:buSzPct val="70000"/>
              <a:defRPr/>
            </a:lvl3pPr>
            <a:lvl5pPr>
              <a:buSzPct val="7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B41ED8-AC2E-4560-8CC9-E6292DDF25B6}" type="datetime1">
              <a:rPr lang="en-US" smtClean="0"/>
              <a:t>5/16/2026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2500273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03">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54480" y="1554480"/>
            <a:ext cx="5577840" cy="3840480"/>
          </a:xfrm>
        </p:spPr>
        <p:txBody>
          <a:bodyPr anchor="t">
            <a:noAutofit/>
          </a:bodyPr>
          <a:lstStyle>
            <a:lvl1pPr algn="l">
              <a:defRPr sz="5400" cap="all" baseline="0">
                <a:solidFill>
                  <a:schemeClr val="tx2"/>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65ED42FA-5CCA-F252-5E46-7B0091BCC814}"/>
              </a:ext>
            </a:extLst>
          </p:cNvPr>
          <p:cNvSpPr>
            <a:spLocks noGrp="1"/>
          </p:cNvSpPr>
          <p:nvPr>
            <p:ph type="pic" sz="quarter" idx="10"/>
          </p:nvPr>
        </p:nvSpPr>
        <p:spPr>
          <a:xfrm>
            <a:off x="7653528" y="768096"/>
            <a:ext cx="3776472" cy="5340096"/>
          </a:xfrm>
        </p:spPr>
        <p:txBody>
          <a:bodyPr/>
          <a:lstStyle>
            <a:lvl1pPr marL="0" indent="0">
              <a:buNone/>
              <a:defRPr/>
            </a:lvl1pPr>
          </a:lstStyle>
          <a:p>
            <a:r>
              <a:rPr lang="en-US"/>
              <a:t>Click icon to add picture</a:t>
            </a:r>
            <a:endParaRPr lang="en-US" dirty="0"/>
          </a:p>
        </p:txBody>
      </p:sp>
      <p:sp>
        <p:nvSpPr>
          <p:cNvPr id="4" name="Freeform 6">
            <a:extLst>
              <a:ext uri="{FF2B5EF4-FFF2-40B4-BE49-F238E27FC236}">
                <a16:creationId xmlns:a16="http://schemas.microsoft.com/office/drawing/2014/main" id="{6EBE1C39-C107-91D5-DD19-349AD1A9DEAD}"/>
              </a:ext>
            </a:extLst>
          </p:cNvPr>
          <p:cNvSpPr/>
          <p:nvPr userDrawn="1"/>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1"/>
          </a:solidFill>
          <a:ln w="0">
            <a:noFill/>
            <a:prstDash val="solid"/>
            <a:round/>
            <a:headEnd/>
            <a:tailEnd/>
          </a:ln>
        </p:spPr>
        <p:txBody>
          <a:bodyPr/>
          <a:lstStyle/>
          <a:p>
            <a:endParaRPr lang="en-ZA"/>
          </a:p>
        </p:txBody>
      </p:sp>
    </p:spTree>
    <p:extLst>
      <p:ext uri="{BB962C8B-B14F-4D97-AF65-F5344CB8AC3E}">
        <p14:creationId xmlns:p14="http://schemas.microsoft.com/office/powerpoint/2010/main" val="245648746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wo content 0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4663440" cy="5760720"/>
          </a:xfrm>
        </p:spPr>
        <p:txBody>
          <a:bodyPr>
            <a:normAutofit/>
          </a:bodyPr>
          <a:lstStyle>
            <a:lvl1pPr>
              <a:defRPr sz="3600" b="1" spc="100" baseline="0"/>
            </a:lvl1pPr>
          </a:lstStyle>
          <a:p>
            <a:r>
              <a:rPr lang="en-US"/>
              <a:t>Click to edit Master title style</a:t>
            </a:r>
            <a:endParaRPr lang="en-US" dirty="0"/>
          </a:p>
        </p:txBody>
      </p:sp>
      <p:sp>
        <p:nvSpPr>
          <p:cNvPr id="3" name="Content Placeholder 2"/>
          <p:cNvSpPr>
            <a:spLocks noGrp="1"/>
          </p:cNvSpPr>
          <p:nvPr>
            <p:ph idx="1"/>
          </p:nvPr>
        </p:nvSpPr>
        <p:spPr>
          <a:xfrm>
            <a:off x="6309360" y="685800"/>
            <a:ext cx="5212080" cy="2651760"/>
          </a:xfrm>
        </p:spPr>
        <p:txBody>
          <a:bodyPr/>
          <a:lstStyle>
            <a:lvl1pPr marL="0" indent="0">
              <a:buSzPct val="70000"/>
              <a:buNone/>
              <a:defRPr/>
            </a:lvl1pPr>
            <a:lvl2pPr marL="384048" indent="-384048">
              <a:buSzPct val="70000"/>
              <a:buFont typeface="Franklin Gothic Book" panose="020B0503020102020204" pitchFamily="34" charset="0"/>
              <a:buChar char="■"/>
              <a:defRPr/>
            </a:lvl2pPr>
            <a:lvl3pPr marL="914400" indent="-384048">
              <a:buSzPct val="70000"/>
              <a:buFont typeface="Franklin Gothic Book" panose="020B0503020102020204" pitchFamily="34" charset="0"/>
              <a:buChar char="–"/>
              <a:defRPr/>
            </a:lvl3pPr>
            <a:lvl4pPr marL="1371600" indent="-384048">
              <a:buSzPct val="70000"/>
              <a:buFont typeface="Franklin Gothic Book" panose="020B0503020102020204" pitchFamily="34" charset="0"/>
              <a:buChar char="■"/>
              <a:defRPr/>
            </a:lvl4pPr>
            <a:lvl5pPr marL="1828800" indent="-384048">
              <a:buSzPct val="70000"/>
              <a:buFont typeface="Franklin Gothic Book" panose="020B05030201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a:extLst>
              <a:ext uri="{FF2B5EF4-FFF2-40B4-BE49-F238E27FC236}">
                <a16:creationId xmlns:a16="http://schemas.microsoft.com/office/drawing/2014/main" id="{2CFB8D5A-7E59-4AEA-3F66-398413304E12}"/>
              </a:ext>
            </a:extLst>
          </p:cNvPr>
          <p:cNvSpPr>
            <a:spLocks noGrp="1"/>
          </p:cNvSpPr>
          <p:nvPr>
            <p:ph idx="13"/>
          </p:nvPr>
        </p:nvSpPr>
        <p:spPr>
          <a:xfrm>
            <a:off x="6309360" y="3637722"/>
            <a:ext cx="5212080" cy="2651760"/>
          </a:xfrm>
        </p:spPr>
        <p:txBody>
          <a:bodyPr/>
          <a:lstStyle>
            <a:lvl1pPr marL="512064" indent="-512064">
              <a:buSzPct val="100000"/>
              <a:buFont typeface="+mj-lt"/>
              <a:buAutoNum type="arabicPeriod"/>
              <a:defRPr/>
            </a:lvl1pPr>
            <a:lvl2pPr marL="1170432" indent="-457200">
              <a:buSzPct val="100000"/>
              <a:buFont typeface="+mj-lt"/>
              <a:buAutoNum type="alphaLcPeriod"/>
              <a:defRPr/>
            </a:lvl2pPr>
            <a:lvl3pPr marL="1645920" indent="-384048">
              <a:buSzPct val="70000"/>
              <a:buFont typeface="+mj-lt"/>
              <a:buAutoNum type="romanLcPeriod"/>
              <a:defRPr/>
            </a:lvl3pPr>
            <a:lvl4pPr marL="2103120" indent="-384048">
              <a:buSzPct val="70000"/>
              <a:buFont typeface="+mj-lt"/>
              <a:buAutoNum type="arabicParenR"/>
              <a:defRPr/>
            </a:lvl4pPr>
            <a:lvl5pPr marL="2743200" indent="-384048">
              <a:buSzPct val="70000"/>
              <a:buFont typeface="+mj-lt"/>
              <a:buAutoNum type="alphaLcParen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B41ED8-AC2E-4560-8CC9-E6292DDF25B6}" type="datetime1">
              <a:rPr lang="en-US" smtClean="0"/>
              <a:t>5/16/2026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2171011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accent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1164FD9-A200-1A27-7217-47AF9DF9F598}"/>
              </a:ext>
            </a:extLst>
          </p:cNvPr>
          <p:cNvSpPr>
            <a:spLocks noGrp="1"/>
          </p:cNvSpPr>
          <p:nvPr>
            <p:ph type="ctrTitle"/>
          </p:nvPr>
        </p:nvSpPr>
        <p:spPr>
          <a:xfrm>
            <a:off x="1554480" y="1554480"/>
            <a:ext cx="9052560" cy="2377440"/>
          </a:xfrm>
        </p:spPr>
        <p:txBody>
          <a:bodyPr anchor="b">
            <a:noAutofit/>
          </a:bodyPr>
          <a:lstStyle>
            <a:lvl1pPr algn="ctr">
              <a:defRPr sz="5400" b="1"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1527048" y="4069080"/>
            <a:ext cx="9144000" cy="1371600"/>
          </a:xfrm>
        </p:spPr>
        <p:txBody>
          <a:bodyPr>
            <a:normAutofit/>
          </a:bodyPr>
          <a:lstStyle>
            <a:lvl1pPr marL="0" indent="0" algn="ctr">
              <a:lnSpc>
                <a:spcPct val="112000"/>
              </a:lnSpc>
              <a:spcBef>
                <a:spcPts val="40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7" name="Group 6"/>
          <p:cNvGrpSpPr/>
          <p:nvPr/>
        </p:nvGrpSpPr>
        <p:grpSpPr>
          <a:xfrm>
            <a:off x="752858" y="744469"/>
            <a:ext cx="10674117" cy="5349671"/>
            <a:chOff x="752858" y="744469"/>
            <a:chExt cx="10674117" cy="5349671"/>
          </a:xfrm>
          <a:solidFill>
            <a:schemeClr val="tx1"/>
          </a:solidFill>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grpFill/>
            <a:ln w="0">
              <a:noFill/>
              <a:prstDash val="solid"/>
              <a:round/>
              <a:headEnd/>
              <a:tailEnd/>
            </a:ln>
          </p:spPr>
          <p:txBody>
            <a:bodyPr/>
            <a:lstStyle/>
            <a:p>
              <a:endParaRPr lang="en-ZA"/>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grpFill/>
            <a:ln w="0">
              <a:noFill/>
              <a:prstDash val="solid"/>
              <a:round/>
              <a:headEnd/>
              <a:tailEnd/>
            </a:ln>
          </p:spPr>
          <p:txBody>
            <a:bodyPr/>
            <a:lstStyle/>
            <a:p>
              <a:endParaRPr lang="en-ZA"/>
            </a:p>
          </p:txBody>
        </p:sp>
      </p:gr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CB83234-995D-4149-8E1E-BC120E9070D5}" type="datetime1">
              <a:rPr lang="en-US" smtClean="0"/>
              <a:t>5/16/2026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67" r:id="rId4"/>
    <p:sldLayoutId id="2147483671" r:id="rId5"/>
    <p:sldLayoutId id="2147483672" r:id="rId6"/>
    <p:sldLayoutId id="2147483674" r:id="rId7"/>
    <p:sldLayoutId id="2147483675" r:id="rId8"/>
    <p:sldLayoutId id="2147483676" r:id="rId9"/>
    <p:sldLayoutId id="2147483677" r:id="rId10"/>
    <p:sldLayoutId id="2147483649" r:id="rId11"/>
  </p:sldLayoutIdLst>
  <p:hf sldNum="0" hdr="0" ftr="0" dt="0"/>
  <p:txStyles>
    <p:titleStyle>
      <a:lvl1pPr algn="l" defTabSz="914400" rtl="0" eaLnBrk="1" latinLnBrk="0" hangingPunct="1">
        <a:lnSpc>
          <a:spcPct val="89000"/>
        </a:lnSpc>
        <a:spcBef>
          <a:spcPct val="0"/>
        </a:spcBef>
        <a:buNone/>
        <a:defRPr sz="4400" b="1" kern="1200" cap="all" spc="1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47C47-EF1D-4B02-906B-219155AD8D0F}"/>
              </a:ext>
            </a:extLst>
          </p:cNvPr>
          <p:cNvSpPr>
            <a:spLocks noGrp="1"/>
          </p:cNvSpPr>
          <p:nvPr>
            <p:ph type="ctrTitle"/>
          </p:nvPr>
        </p:nvSpPr>
        <p:spPr>
          <a:xfrm>
            <a:off x="1554480" y="1554480"/>
            <a:ext cx="9052560" cy="2377440"/>
          </a:xfrm>
        </p:spPr>
        <p:txBody>
          <a:bodyPr anchor="t" anchorCtr="0">
            <a:normAutofit/>
          </a:bodyPr>
          <a:lstStyle/>
          <a:p>
            <a:r>
              <a:rPr lang="en-ZA" sz="4000" dirty="0"/>
              <a:t>Gauteng Apartment Rental Market: A Feature-Based Price Variation Analysis</a:t>
            </a:r>
          </a:p>
        </p:txBody>
      </p:sp>
      <p:sp>
        <p:nvSpPr>
          <p:cNvPr id="3" name="Subtitle 2">
            <a:extLst>
              <a:ext uri="{FF2B5EF4-FFF2-40B4-BE49-F238E27FC236}">
                <a16:creationId xmlns:a16="http://schemas.microsoft.com/office/drawing/2014/main" id="{36A0527F-C5FD-4E9B-9F21-5D1FBA31314B}"/>
              </a:ext>
            </a:extLst>
          </p:cNvPr>
          <p:cNvSpPr>
            <a:spLocks noGrp="1"/>
          </p:cNvSpPr>
          <p:nvPr>
            <p:ph type="subTitle" idx="1"/>
          </p:nvPr>
        </p:nvSpPr>
        <p:spPr>
          <a:xfrm>
            <a:off x="1554480" y="4242816"/>
            <a:ext cx="9052560" cy="1188720"/>
          </a:xfrm>
        </p:spPr>
        <p:txBody>
          <a:bodyPr vert="horz" lIns="91440" tIns="45720" rIns="91440" bIns="45720" rtlCol="0" anchor="b" anchorCtr="0">
            <a:normAutofit/>
          </a:bodyPr>
          <a:lstStyle/>
          <a:p>
            <a:r>
              <a:rPr lang="en-US" dirty="0"/>
              <a:t>Aron </a:t>
            </a:r>
            <a:r>
              <a:rPr lang="en-US" dirty="0" err="1"/>
              <a:t>Moganedi</a:t>
            </a:r>
            <a:endParaRPr lang="en-US" dirty="0"/>
          </a:p>
        </p:txBody>
      </p:sp>
    </p:spTree>
    <p:extLst>
      <p:ext uri="{BB962C8B-B14F-4D97-AF65-F5344CB8AC3E}">
        <p14:creationId xmlns:p14="http://schemas.microsoft.com/office/powerpoint/2010/main" val="745576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1371600" y="685800"/>
            <a:ext cx="4297680" cy="5760720"/>
          </a:xfrm>
          <a:noFill/>
        </p:spPr>
        <p:txBody>
          <a:bodyPr>
            <a:noAutofit/>
          </a:bodyPr>
          <a:lstStyle/>
          <a:p>
            <a:r>
              <a:rPr lang="en-US" dirty="0"/>
              <a:t>Key Questions</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6309360" y="685800"/>
            <a:ext cx="5212080" cy="5760720"/>
          </a:xfrm>
          <a:noFill/>
        </p:spPr>
        <p:txBody>
          <a:bodyPr/>
          <a:lstStyle/>
          <a:p>
            <a:r>
              <a:rPr lang="en-ZA" dirty="0"/>
              <a:t>Does location and estate agent influence apartment rental prices across Gauteng? </a:t>
            </a:r>
          </a:p>
          <a:p>
            <a:r>
              <a:rPr lang="en-ZA" dirty="0"/>
              <a:t>And to what extent do internal apartment features, number of bedrooms, bathrooms, parking spaces and floor size, collectively and individually account for monthly rental price variation?</a:t>
            </a:r>
          </a:p>
          <a:p>
            <a:endParaRPr lang="en-US" dirty="0"/>
          </a:p>
        </p:txBody>
      </p:sp>
    </p:spTree>
    <p:extLst>
      <p:ext uri="{BB962C8B-B14F-4D97-AF65-F5344CB8AC3E}">
        <p14:creationId xmlns:p14="http://schemas.microsoft.com/office/powerpoint/2010/main" val="4169552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1371600" y="685800"/>
            <a:ext cx="4297680" cy="5760720"/>
          </a:xfrm>
          <a:noFill/>
        </p:spPr>
        <p:txBody>
          <a:bodyPr>
            <a:noAutofit/>
          </a:bodyPr>
          <a:lstStyle/>
          <a:p>
            <a:r>
              <a:rPr lang="en-US" dirty="0"/>
              <a:t>Database market analysis p1</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309360" y="685800"/>
            <a:ext cx="5212080" cy="5760720"/>
          </a:xfrm>
          <a:noFill/>
        </p:spPr>
        <p:txBody>
          <a:bodyPr>
            <a:normAutofit fontScale="92500"/>
          </a:bodyPr>
          <a:lstStyle/>
          <a:p>
            <a:r>
              <a:rPr lang="en-ZA" dirty="0"/>
              <a:t>Combined, all six observed attributes in this dataset account for about </a:t>
            </a:r>
            <a:r>
              <a:rPr lang="en-ZA" b="1" dirty="0"/>
              <a:t>59.8% </a:t>
            </a:r>
            <a:r>
              <a:rPr lang="en-ZA" dirty="0"/>
              <a:t>of monthly price variation across apartment listings. Unobserved features, such as amenities, apartment furnishings, and extras, could account for the remaining </a:t>
            </a:r>
            <a:r>
              <a:rPr lang="en-ZA" b="1" dirty="0"/>
              <a:t>40.2%.</a:t>
            </a:r>
            <a:r>
              <a:rPr lang="en-ZA" dirty="0"/>
              <a:t> </a:t>
            </a:r>
          </a:p>
          <a:p>
            <a:r>
              <a:rPr lang="en-ZA" dirty="0"/>
              <a:t>There is a very inconsistent relationship (</a:t>
            </a:r>
            <a:r>
              <a:rPr lang="en-ZA" b="1" dirty="0"/>
              <a:t>0.23) </a:t>
            </a:r>
            <a:r>
              <a:rPr lang="en-ZA" dirty="0"/>
              <a:t>between bedrooms and monthly price. This indicates that bedrooms only account for about </a:t>
            </a:r>
            <a:r>
              <a:rPr lang="en-ZA" b="1" dirty="0"/>
              <a:t>5.29% </a:t>
            </a:r>
            <a:r>
              <a:rPr lang="en-ZA" dirty="0"/>
              <a:t>of price variation between listings. When price responds to bedrooms, it usually drives up by </a:t>
            </a:r>
            <a:r>
              <a:rPr lang="en-ZA" b="1" dirty="0"/>
              <a:t>R3 481.47</a:t>
            </a:r>
            <a:endParaRPr lang="en-ZA" dirty="0"/>
          </a:p>
          <a:p>
            <a:r>
              <a:rPr lang="en-ZA" dirty="0"/>
              <a:t>There is a moderately consistent relationship (</a:t>
            </a:r>
            <a:r>
              <a:rPr lang="en-ZA" b="1" dirty="0"/>
              <a:t>0.48) </a:t>
            </a:r>
            <a:r>
              <a:rPr lang="en-ZA" dirty="0"/>
              <a:t>between bathrooms and monthly price. This indicates that bathrooms account for about </a:t>
            </a:r>
            <a:r>
              <a:rPr lang="en-ZA" b="1" dirty="0"/>
              <a:t>23% </a:t>
            </a:r>
            <a:r>
              <a:rPr lang="en-ZA" dirty="0"/>
              <a:t>of price variation between listings. When price does respond to bathrooms, it usually drives up by </a:t>
            </a:r>
            <a:r>
              <a:rPr lang="en-ZA" b="1" dirty="0"/>
              <a:t>R8 211.95</a:t>
            </a:r>
            <a:r>
              <a:rPr lang="en-ZA" dirty="0"/>
              <a:t> in this dataset</a:t>
            </a:r>
            <a:r>
              <a:rPr lang="en-ZA" b="1" dirty="0"/>
              <a:t>.</a:t>
            </a:r>
            <a:endParaRPr lang="en-ZA" dirty="0"/>
          </a:p>
          <a:p>
            <a:endParaRPr lang="en-ZA" dirty="0"/>
          </a:p>
          <a:p>
            <a:endParaRPr lang="en-ZA" dirty="0"/>
          </a:p>
          <a:p>
            <a:endParaRPr lang="en-US" dirty="0"/>
          </a:p>
        </p:txBody>
      </p:sp>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55B8BBBD-4F79-AB0E-6DB8-450009F65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498EF1-F9A3-6C06-2204-2C8AC5897CE0}"/>
              </a:ext>
            </a:extLst>
          </p:cNvPr>
          <p:cNvSpPr>
            <a:spLocks noGrp="1"/>
          </p:cNvSpPr>
          <p:nvPr>
            <p:ph type="title"/>
          </p:nvPr>
        </p:nvSpPr>
        <p:spPr>
          <a:xfrm>
            <a:off x="1371600" y="685800"/>
            <a:ext cx="4297680" cy="5760720"/>
          </a:xfrm>
          <a:noFill/>
        </p:spPr>
        <p:txBody>
          <a:bodyPr>
            <a:noAutofit/>
          </a:bodyPr>
          <a:lstStyle/>
          <a:p>
            <a:r>
              <a:rPr lang="en-US" dirty="0"/>
              <a:t>Database market analysis p2</a:t>
            </a:r>
          </a:p>
        </p:txBody>
      </p:sp>
      <p:sp>
        <p:nvSpPr>
          <p:cNvPr id="3" name="Content Placeholder 2">
            <a:extLst>
              <a:ext uri="{FF2B5EF4-FFF2-40B4-BE49-F238E27FC236}">
                <a16:creationId xmlns:a16="http://schemas.microsoft.com/office/drawing/2014/main" id="{AEBA6CD4-CDAF-695C-7A9C-FCDD6F1A1BC4}"/>
              </a:ext>
            </a:extLst>
          </p:cNvPr>
          <p:cNvSpPr>
            <a:spLocks noGrp="1"/>
          </p:cNvSpPr>
          <p:nvPr>
            <p:ph idx="1"/>
          </p:nvPr>
        </p:nvSpPr>
        <p:spPr>
          <a:xfrm>
            <a:off x="6309360" y="685800"/>
            <a:ext cx="5212080" cy="5760720"/>
          </a:xfrm>
          <a:noFill/>
        </p:spPr>
        <p:txBody>
          <a:bodyPr>
            <a:normAutofit fontScale="92500" lnSpcReduction="10000"/>
          </a:bodyPr>
          <a:lstStyle/>
          <a:p>
            <a:r>
              <a:rPr lang="en-ZA" dirty="0"/>
              <a:t>There is very low correlation (</a:t>
            </a:r>
            <a:r>
              <a:rPr lang="en-ZA" b="1" dirty="0"/>
              <a:t>0.22</a:t>
            </a:r>
            <a:r>
              <a:rPr lang="en-ZA" dirty="0"/>
              <a:t>) between parking spaces and monthly prices, which indicates that the number of parking spaces only accounts for around </a:t>
            </a:r>
            <a:r>
              <a:rPr lang="en-ZA" b="1" dirty="0"/>
              <a:t>4.84% </a:t>
            </a:r>
            <a:r>
              <a:rPr lang="en-ZA" dirty="0"/>
              <a:t>of price variation between listings. Each additional parking space drives prices up by </a:t>
            </a:r>
            <a:r>
              <a:rPr lang="en-ZA" b="1" dirty="0"/>
              <a:t>R408.71</a:t>
            </a:r>
            <a:r>
              <a:rPr lang="en-ZA" dirty="0"/>
              <a:t>.</a:t>
            </a:r>
          </a:p>
          <a:p>
            <a:r>
              <a:rPr lang="en-ZA" dirty="0"/>
              <a:t>There is a fragile correlation (</a:t>
            </a:r>
            <a:r>
              <a:rPr lang="en-ZA" b="1" dirty="0"/>
              <a:t>0.13</a:t>
            </a:r>
            <a:r>
              <a:rPr lang="en-ZA" dirty="0"/>
              <a:t>) between the floor size and monthly prices, which indicates that the floor size only accounts for around </a:t>
            </a:r>
            <a:r>
              <a:rPr lang="en-ZA" b="1" dirty="0"/>
              <a:t>1.69% </a:t>
            </a:r>
            <a:r>
              <a:rPr lang="en-ZA" dirty="0"/>
              <a:t>of price variation between listings. When price does respond to floor size, it usually drives up by </a:t>
            </a:r>
            <a:r>
              <a:rPr lang="en-ZA" b="1" dirty="0"/>
              <a:t>R53.52</a:t>
            </a:r>
            <a:r>
              <a:rPr lang="en-ZA" dirty="0"/>
              <a:t>.</a:t>
            </a:r>
          </a:p>
          <a:p>
            <a:r>
              <a:rPr lang="en-ZA" dirty="0"/>
              <a:t>After running the Kruskal-Wallis Test on the cities in the database, we can conclude that location influences price variation across apartment listings. Furthermore, Sandton tends to have higher-priced apartments than the other three cities (Midrand, Pretoria and Johannesburg). The points are similar for estate agents.</a:t>
            </a:r>
          </a:p>
          <a:p>
            <a:endParaRPr lang="en-ZA" dirty="0"/>
          </a:p>
          <a:p>
            <a:endParaRPr lang="en-ZA" dirty="0"/>
          </a:p>
          <a:p>
            <a:endParaRPr lang="en-US" dirty="0"/>
          </a:p>
        </p:txBody>
      </p:sp>
    </p:spTree>
    <p:extLst>
      <p:ext uri="{BB962C8B-B14F-4D97-AF65-F5344CB8AC3E}">
        <p14:creationId xmlns:p14="http://schemas.microsoft.com/office/powerpoint/2010/main" val="1013475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41AC3B7-056F-7D54-B4BC-960FBD5C9DF9}"/>
              </a:ext>
            </a:extLst>
          </p:cNvPr>
          <p:cNvSpPr>
            <a:spLocks noGrp="1"/>
          </p:cNvSpPr>
          <p:nvPr>
            <p:ph type="title"/>
          </p:nvPr>
        </p:nvSpPr>
        <p:spPr>
          <a:xfrm>
            <a:off x="1371600" y="685800"/>
            <a:ext cx="10149840" cy="1645920"/>
          </a:xfrm>
        </p:spPr>
        <p:txBody>
          <a:bodyPr>
            <a:normAutofit fontScale="90000"/>
          </a:bodyPr>
          <a:lstStyle/>
          <a:p>
            <a:r>
              <a:rPr lang="en-ZA" i="1" dirty="0"/>
              <a:t>On average, Sandton has the most expensive apartments between all four cities. </a:t>
            </a:r>
            <a:br>
              <a:rPr lang="en-ZA" dirty="0"/>
            </a:br>
            <a:endParaRPr lang="en-US" sz="2000" dirty="0">
              <a:latin typeface="+mn-lt"/>
            </a:endParaRPr>
          </a:p>
        </p:txBody>
      </p:sp>
      <p:pic>
        <p:nvPicPr>
          <p:cNvPr id="5" name="Content Placeholder 4">
            <a:extLst>
              <a:ext uri="{FF2B5EF4-FFF2-40B4-BE49-F238E27FC236}">
                <a16:creationId xmlns:a16="http://schemas.microsoft.com/office/drawing/2014/main" id="{D72D6F71-20B7-948B-7430-5860BC9F9355}"/>
              </a:ext>
            </a:extLst>
          </p:cNvPr>
          <p:cNvPicPr>
            <a:picLocks noGrp="1" noChangeAspect="1"/>
          </p:cNvPicPr>
          <p:nvPr>
            <p:ph idx="13"/>
          </p:nvPr>
        </p:nvPicPr>
        <p:blipFill>
          <a:blip r:embed="rId2"/>
          <a:stretch>
            <a:fillRect/>
          </a:stretch>
        </p:blipFill>
        <p:spPr>
          <a:xfrm>
            <a:off x="2168577" y="2053653"/>
            <a:ext cx="7854846" cy="3882451"/>
          </a:xfrm>
          <a:prstGeom prst="rect">
            <a:avLst/>
          </a:prstGeom>
        </p:spPr>
      </p:pic>
    </p:spTree>
    <p:extLst>
      <p:ext uri="{BB962C8B-B14F-4D97-AF65-F5344CB8AC3E}">
        <p14:creationId xmlns:p14="http://schemas.microsoft.com/office/powerpoint/2010/main" val="804650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A6266D63-3F55-36C9-5504-DEA8FAEEFB3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1357F54-BC83-55E5-3FC1-0CFEE149D556}"/>
              </a:ext>
            </a:extLst>
          </p:cNvPr>
          <p:cNvSpPr>
            <a:spLocks noGrp="1"/>
          </p:cNvSpPr>
          <p:nvPr>
            <p:ph type="title"/>
          </p:nvPr>
        </p:nvSpPr>
        <p:spPr>
          <a:xfrm>
            <a:off x="1371600" y="685800"/>
            <a:ext cx="10149840" cy="1645920"/>
          </a:xfrm>
        </p:spPr>
        <p:txBody>
          <a:bodyPr anchor="t">
            <a:normAutofit/>
          </a:bodyPr>
          <a:lstStyle/>
          <a:p>
            <a:r>
              <a:rPr lang="en-ZA" sz="2500" i="1"/>
              <a:t>The cells in light blue indicate that there’s systematic differences in prices between the cities. This substantiates our claim that location influences monthly price differences across apartments.</a:t>
            </a:r>
            <a:endParaRPr lang="en-ZA" sz="2500"/>
          </a:p>
        </p:txBody>
      </p:sp>
      <p:pic>
        <p:nvPicPr>
          <p:cNvPr id="6" name="Content Placeholder 5">
            <a:extLst>
              <a:ext uri="{FF2B5EF4-FFF2-40B4-BE49-F238E27FC236}">
                <a16:creationId xmlns:a16="http://schemas.microsoft.com/office/drawing/2014/main" id="{842EBA06-BF29-2C20-792C-A3362F447EEA}"/>
              </a:ext>
            </a:extLst>
          </p:cNvPr>
          <p:cNvPicPr>
            <a:picLocks noGrp="1" noChangeAspect="1"/>
          </p:cNvPicPr>
          <p:nvPr>
            <p:ph idx="13"/>
          </p:nvPr>
        </p:nvPicPr>
        <p:blipFill>
          <a:blip r:embed="rId2"/>
          <a:stretch>
            <a:fillRect/>
          </a:stretch>
        </p:blipFill>
        <p:spPr>
          <a:xfrm>
            <a:off x="1426464" y="3240748"/>
            <a:ext cx="10149840" cy="2461336"/>
          </a:xfrm>
          <a:prstGeom prst="rect">
            <a:avLst/>
          </a:prstGeom>
          <a:noFill/>
        </p:spPr>
      </p:pic>
    </p:spTree>
    <p:extLst>
      <p:ext uri="{BB962C8B-B14F-4D97-AF65-F5344CB8AC3E}">
        <p14:creationId xmlns:p14="http://schemas.microsoft.com/office/powerpoint/2010/main" val="2352843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A3850802-26E8-60BE-CAE9-6CF8EDFF8D9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F75E404-CC7F-D40B-BB90-F6D595E9E7CF}"/>
              </a:ext>
            </a:extLst>
          </p:cNvPr>
          <p:cNvSpPr>
            <a:spLocks noGrp="1"/>
          </p:cNvSpPr>
          <p:nvPr>
            <p:ph type="title"/>
          </p:nvPr>
        </p:nvSpPr>
        <p:spPr>
          <a:xfrm>
            <a:off x="1371600" y="685800"/>
            <a:ext cx="10149840" cy="1645920"/>
          </a:xfrm>
        </p:spPr>
        <p:txBody>
          <a:bodyPr anchor="t">
            <a:normAutofit/>
          </a:bodyPr>
          <a:lstStyle/>
          <a:p>
            <a:r>
              <a:rPr lang="en-ZA" sz="2000" i="1" dirty="0"/>
              <a:t>The R-squared of a variable measure how much that variable can account for the price difference across apartments. It is derived from the correlation between each variable and apartment price, meaning that the higher the R-squared the stronger the relationship between the two variables.</a:t>
            </a:r>
            <a:endParaRPr lang="en-ZA" sz="2000" dirty="0"/>
          </a:p>
        </p:txBody>
      </p:sp>
      <p:pic>
        <p:nvPicPr>
          <p:cNvPr id="5" name="Content Placeholder 4">
            <a:extLst>
              <a:ext uri="{FF2B5EF4-FFF2-40B4-BE49-F238E27FC236}">
                <a16:creationId xmlns:a16="http://schemas.microsoft.com/office/drawing/2014/main" id="{7BEDE938-B62B-350B-70B2-06E77A0E8FCD}"/>
              </a:ext>
            </a:extLst>
          </p:cNvPr>
          <p:cNvPicPr>
            <a:picLocks noGrp="1" noChangeAspect="1"/>
          </p:cNvPicPr>
          <p:nvPr>
            <p:ph idx="13"/>
          </p:nvPr>
        </p:nvPicPr>
        <p:blipFill>
          <a:blip r:embed="rId2"/>
          <a:stretch>
            <a:fillRect/>
          </a:stretch>
        </p:blipFill>
        <p:spPr>
          <a:xfrm>
            <a:off x="2900933" y="2743200"/>
            <a:ext cx="7200901" cy="3456432"/>
          </a:xfrm>
          <a:prstGeom prst="rect">
            <a:avLst/>
          </a:prstGeom>
          <a:noFill/>
        </p:spPr>
      </p:pic>
    </p:spTree>
    <p:extLst>
      <p:ext uri="{BB962C8B-B14F-4D97-AF65-F5344CB8AC3E}">
        <p14:creationId xmlns:p14="http://schemas.microsoft.com/office/powerpoint/2010/main" val="2748499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B24B2-BA88-5D04-5F28-3ED23695598F}"/>
              </a:ext>
            </a:extLst>
          </p:cNvPr>
          <p:cNvSpPr>
            <a:spLocks noGrp="1"/>
          </p:cNvSpPr>
          <p:nvPr>
            <p:ph type="title"/>
          </p:nvPr>
        </p:nvSpPr>
        <p:spPr/>
        <p:txBody>
          <a:bodyPr/>
          <a:lstStyle/>
          <a:p>
            <a:r>
              <a:rPr lang="en-ZA" dirty="0"/>
              <a:t>Final Thoughts</a:t>
            </a:r>
            <a:br>
              <a:rPr lang="en-ZA" dirty="0"/>
            </a:br>
            <a:endParaRPr lang="en-ZA" dirty="0"/>
          </a:p>
        </p:txBody>
      </p:sp>
      <p:sp>
        <p:nvSpPr>
          <p:cNvPr id="3" name="Content Placeholder 2">
            <a:extLst>
              <a:ext uri="{FF2B5EF4-FFF2-40B4-BE49-F238E27FC236}">
                <a16:creationId xmlns:a16="http://schemas.microsoft.com/office/drawing/2014/main" id="{9835B9C4-4014-B998-C68E-366796E60D6D}"/>
              </a:ext>
            </a:extLst>
          </p:cNvPr>
          <p:cNvSpPr>
            <a:spLocks noGrp="1"/>
          </p:cNvSpPr>
          <p:nvPr>
            <p:ph idx="1"/>
          </p:nvPr>
        </p:nvSpPr>
        <p:spPr/>
        <p:txBody>
          <a:bodyPr/>
          <a:lstStyle/>
          <a:p>
            <a:pPr marL="0" indent="0">
              <a:buNone/>
            </a:pPr>
            <a:r>
              <a:rPr lang="en-GB" dirty="0"/>
              <a:t>Monthly prices always consider intrinsic properties such as bedrooms, bathrooms, and floor size, so it was fascinating to learn how much they influence the price variation and in what ways they do. Furthermore, we were able to substantiate our claim that price is dependent on location, indicating that cities such as Sandton tend to have higher-priced apartments than cities such as Pretoria.</a:t>
            </a:r>
            <a:endParaRPr lang="en-ZA" dirty="0"/>
          </a:p>
        </p:txBody>
      </p:sp>
    </p:spTree>
    <p:extLst>
      <p:ext uri="{BB962C8B-B14F-4D97-AF65-F5344CB8AC3E}">
        <p14:creationId xmlns:p14="http://schemas.microsoft.com/office/powerpoint/2010/main" val="465996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8FD43-B4C9-8C9C-1C01-65BAACF12BC8}"/>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CC6AA1EB-BC03-4C31-388A-F7A250FC505F}"/>
              </a:ext>
            </a:extLst>
          </p:cNvPr>
          <p:cNvSpPr>
            <a:spLocks noGrp="1"/>
          </p:cNvSpPr>
          <p:nvPr>
            <p:ph type="subTitle" idx="1"/>
          </p:nvPr>
        </p:nvSpPr>
        <p:spPr/>
        <p:txBody>
          <a:bodyPr>
            <a:normAutofit/>
          </a:bodyPr>
          <a:lstStyle/>
          <a:p>
            <a:r>
              <a:rPr lang="en-US" noProof="0" dirty="0"/>
              <a:t>Aron </a:t>
            </a:r>
            <a:r>
              <a:rPr lang="en-US" noProof="0" dirty="0" err="1"/>
              <a:t>Moganedi</a:t>
            </a:r>
            <a:endParaRPr lang="en-US" noProof="0" dirty="0"/>
          </a:p>
          <a:p>
            <a:r>
              <a:rPr lang="en-US" dirty="0"/>
              <a:t>+27 63 374 4529</a:t>
            </a:r>
            <a:r>
              <a:rPr lang="en-US" noProof="0" dirty="0"/>
              <a:t> | </a:t>
            </a:r>
            <a:r>
              <a:rPr lang="en-US" dirty="0"/>
              <a:t>moganedilifa@gmail.com</a:t>
            </a:r>
            <a:endParaRPr lang="en-US" noProof="0" dirty="0"/>
          </a:p>
          <a:p>
            <a:r>
              <a:rPr lang="en-US" dirty="0"/>
              <a:t>https://amoganedi.github.io/PortfolioWebsite/</a:t>
            </a:r>
            <a:endParaRPr lang="en-US" noProof="0" dirty="0"/>
          </a:p>
        </p:txBody>
      </p:sp>
    </p:spTree>
    <p:extLst>
      <p:ext uri="{BB962C8B-B14F-4D97-AF65-F5344CB8AC3E}">
        <p14:creationId xmlns:p14="http://schemas.microsoft.com/office/powerpoint/2010/main" val="51799409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357615_win32_EF_v3" id="{E0D2F1F9-7AB8-4CD0-BAF5-572B3B8BE236}" vid="{36B7CD22-9CE9-4A36-A2A9-2F6B82431D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D9A38F-9A2C-42E5-9013-4C4B1FFCB4F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8C45FB24-BEC6-4D44-888B-84AEBBA2DC09}">
  <ds:schemaRefs>
    <ds:schemaRef ds:uri="http://schemas.microsoft.com/sharepoint/v3/contenttype/forms"/>
  </ds:schemaRefs>
</ds:datastoreItem>
</file>

<file path=customXml/itemProps3.xml><?xml version="1.0" encoding="utf-8"?>
<ds:datastoreItem xmlns:ds="http://schemas.openxmlformats.org/officeDocument/2006/customXml" ds:itemID="{648BEDAE-AC7E-4F41-A2BD-A46A860958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Crop design</Template>
  <TotalTime>39</TotalTime>
  <Words>533</Words>
  <Application>Microsoft Office PowerPoint</Application>
  <PresentationFormat>Widescreen</PresentationFormat>
  <Paragraphs>24</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Calibri</vt:lpstr>
      <vt:lpstr>Franklin Gothic Book</vt:lpstr>
      <vt:lpstr>Crop</vt:lpstr>
      <vt:lpstr>Gauteng Apartment Rental Market: A Feature-Based Price Variation Analysis</vt:lpstr>
      <vt:lpstr>Key Questions</vt:lpstr>
      <vt:lpstr>Database market analysis p1</vt:lpstr>
      <vt:lpstr>Database market analysis p2</vt:lpstr>
      <vt:lpstr>On average, Sandton has the most expensive apartments between all four cities.  </vt:lpstr>
      <vt:lpstr>The cells in light blue indicate that there’s systematic differences in prices between the cities. This substantiates our claim that location influences monthly price differences across apartments.</vt:lpstr>
      <vt:lpstr>The R-squared of a variable measure how much that variable can account for the price difference across apartments. It is derived from the correlation between each variable and apartment price, meaning that the higher the R-squared the stronger the relationship between the two variables.</vt:lpstr>
      <vt:lpstr>Final Thoughts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ARON JALI LIFA MOGANEDI</dc:creator>
  <cp:lastModifiedBy>ARON JALI LIFA MOGANEDI</cp:lastModifiedBy>
  <cp:revision>1</cp:revision>
  <dcterms:created xsi:type="dcterms:W3CDTF">2026-05-16T12:04:54Z</dcterms:created>
  <dcterms:modified xsi:type="dcterms:W3CDTF">2026-05-16T12:44:50Z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